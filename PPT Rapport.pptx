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53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8B5C-3913-73DF-3FAF-92C1DE44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E1940-66E5-1784-384B-F0524898B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2A4AB-21E7-6534-E9D4-1FE22FA35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8D4EF-F47D-DEF8-7850-B6CE5677F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3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GraphBench Challenge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Réfutation</a:t>
            </a: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conjectures </a:t>
            </a:r>
            <a:r>
              <a:rPr lang="en-US" sz="1600" dirty="0" err="1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229600" cy="0"/>
          </a:xfrm>
          <a:prstGeom prst="line">
            <a:avLst/>
          </a:prstGeom>
          <a:noFill/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Martim Moreira Alves  ·  Noé Arnaud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MIAGE — Université Paris Dauphine  ·  12 mai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2286000" cy="1280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4059936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conjectures réfutées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291840"/>
            <a:ext cx="2286000" cy="128016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08960" y="338328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221,51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108960" y="4059936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291840"/>
            <a:ext cx="2286000" cy="1280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669280" y="338328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0" y="4059936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réfutées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1 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: réfuter des conjectures sur des graphes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conjecture : Y(G) ≤ f( X(G) )     ou     Y(G) ≥ f( X(G)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X, Y sont des invariants de graphe (degré max, nombre de triangles, proximité…)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f est un polynôme donné.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violation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658368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violation(G) = Y(G) − f(X(G))     si signe 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violation(G) = f(X(G)) − Y(G)     si signe 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Dès que violation &gt; 0 → contre-exemple trouvé.  Score final = somme des temps + 120 s de pénalité par conjecture non réfutée.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: deux approches complémentaires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— Heuristique simple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— FunSearch (LLM)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417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atlas : tester 1 252 graphes connus (≤ 7 nœuds) + familles classiques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initiale : seeds structurées selon les invariants de la conjecture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locale 60 s : </a:t>
            </a:r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tournoi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mutation </a:t>
            </a:r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ciblée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redémarrage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47472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1417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: le LLM produit une fonction Python heuristic_score(G)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47472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: la fonction guide la recherche sur 25 conjectures en parallèle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347472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5488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des 3 meilleures fonctions, réinjectées dans le prompt suivant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914400"/>
            <a:ext cx="0" cy="3474720"/>
          </a:xfrm>
          <a:prstGeom prst="line">
            <a:avLst/>
          </a:prstGeom>
          <a:noFill/>
          <a:ln w="1524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Passe atlas : 72 conjectures réfutées instantanément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926080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/ 99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réfutées dès la 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contient l'atlas 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49040" y="1353312"/>
            <a:ext cx="54864" cy="45720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913632" y="13533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1 252 graphes connexes à ≤ 7 sommets (NetworkX atlas)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901952"/>
            <a:ext cx="54864" cy="45720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913632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Arbres de 8 à 12 sommets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450592"/>
            <a:ext cx="54864" cy="45720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913632" y="24505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Familles classiques (n = 8…25) : chemins, cycles, étoiles, graphes complets, roues, chenilles, bipartis, Kn+ bras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56207"/>
            <a:ext cx="8412480" cy="0"/>
          </a:xfrm>
          <a:prstGeom prst="line">
            <a:avLst/>
          </a:prstGeom>
          <a:noFill/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: clique_number(G) ≤ −1/2 + 15/8 · d̄(G)  →  </a:t>
            </a:r>
            <a:r>
              <a:rPr lang="en-US" sz="1200" i="1" dirty="0" err="1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réfutée</a:t>
            </a:r>
            <a:r>
              <a:rPr lang="en-US" sz="12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0,06 s (violation = 0,625).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478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des 99 conjectures réfutées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69951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452360" y="3913632"/>
            <a:ext cx="1234440" cy="50292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conjectures en &lt; 1 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39136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entre 1–30 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&amp; 3 — Recherche locale avec diversification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48973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448973"/>
            <a:ext cx="64008" cy="1737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21792" y="1558701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par tournoi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95189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graphes tirés au </a:t>
            </a:r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hasard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 10 → garder le meilleur. Favorise les bons candidats sans ignorer les autres.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448973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1448973"/>
            <a:ext cx="64008" cy="1737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73752" y="1558701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ciblées 70%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95189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Guidées par la conjecture : augmenter triangle_number, étirer le </a:t>
            </a:r>
            <a:r>
              <a:rPr lang="en-US" sz="13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diamètre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77773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Shape 12"/>
          <p:cNvSpPr/>
          <p:nvPr/>
        </p:nvSpPr>
        <p:spPr>
          <a:xfrm>
            <a:off x="457200" y="3277773"/>
            <a:ext cx="64008" cy="1737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" y="3387501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Itérations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78069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itération on retire 3 autres graphes au hasard parmi les 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277773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09160" y="3277773"/>
            <a:ext cx="64008" cy="17373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73752" y="3387501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&amp; redémarrage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78069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Blocage (100 iter) → 4 mutations d'un coup. Toujours bloqué (500 iter) → nouvelle population.</a:t>
            </a:r>
            <a:endParaRPr lang="en-US" sz="13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6652AECB-25C0-AE0D-EF94-8917D8D7EBD0}"/>
              </a:ext>
            </a:extLst>
          </p:cNvPr>
          <p:cNvSpPr/>
          <p:nvPr/>
        </p:nvSpPr>
        <p:spPr>
          <a:xfrm>
            <a:off x="457200" y="758952"/>
            <a:ext cx="8275320" cy="6096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FD9DF84-053C-A220-F328-5B7CA7AC1175}"/>
              </a:ext>
            </a:extLst>
          </p:cNvPr>
          <p:cNvSpPr/>
          <p:nvPr/>
        </p:nvSpPr>
        <p:spPr>
          <a:xfrm>
            <a:off x="611124" y="758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Famille de depart</a:t>
            </a:r>
            <a:endParaRPr lang="en-US" sz="1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B2E3FC3-8990-4999-7F90-EE5DE98F01F1}"/>
              </a:ext>
            </a:extLst>
          </p:cNvPr>
          <p:cNvSpPr/>
          <p:nvPr/>
        </p:nvSpPr>
        <p:spPr>
          <a:xfrm>
            <a:off x="594360" y="815751"/>
            <a:ext cx="6233042" cy="726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graphes sont choisis en fonction des invariants</a:t>
            </a:r>
            <a:endParaRPr lang="en-US" sz="130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159F6F8-48CE-48E1-5BDC-781270AD2A42}"/>
              </a:ext>
            </a:extLst>
          </p:cNvPr>
          <p:cNvSpPr/>
          <p:nvPr/>
        </p:nvSpPr>
        <p:spPr>
          <a:xfrm>
            <a:off x="457200" y="758952"/>
            <a:ext cx="64008" cy="6096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— FunSearch : un LLM comme guide de recherche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 centrale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lieu de coder à la main la fonction de guidage, on demande à gemini-2.5-flash-lite de générer une fonction Python heuristic_score(G, inv, conjecture). La boucle de recherche de la Partie 1 est conservée entièrement — seule la fonction d'évaluation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d'évolution (10 itérations)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92024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Génération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LLM reçoit un prompt avec les meilleures fonctions et les conjectures non réfutées → produit une nouvelle fonction.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2743200"/>
            <a:ext cx="192024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60604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Compilation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12724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est exécuté. En cas d'erreur de syntaxe, on passe à l'itération suivante.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92024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Évaluation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2724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fonction guide la recherche sur 25 conjectures (60 s max, en parallèle).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192024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0372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Sélection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127248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garde les 3 meilleures fonctions (coût le plus bas) à réinjecter dans le prompt.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— dernière exécution (11 mai 2026)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19456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/ 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1945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réfutées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914400"/>
            <a:ext cx="2194560" cy="1188720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880360" y="10058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221,51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80360" y="1627632"/>
            <a:ext cx="21945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18288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 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03520" y="1627632"/>
            <a:ext cx="18288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moyen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146304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315200" y="10058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0,03 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0" y="1627632"/>
            <a:ext cx="1463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minimal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192024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Conjectures réfutées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 /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total (pénalité incluse)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221,51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Temps minimal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0,032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Temps maximal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Réfutées en &lt; 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/ 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Réfutées par la passe atlas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/ 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scientifique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Conjectures faciles à réfuter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 de densité (clique_number, triangle_number, average_degree) — un simple K₂ ou K₃ suffit souvent.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 difficiles à manipuler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total_domination_number + claw_free (espace très restreint), connectivité algébrique (peu sensible aux mutations), largest_distance_eigenvalue (coût de calcul élevé).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3474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les plus efficaces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(4 mutations d'un coup) indispensable pour sortir des blocages. Étirer le diamètre (accrocher un sommet à une feuille) : effet immédiat sur proximity &amp; remoteness. Seeds Kn+ bras : haute densité + longue portée.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023360" cy="1737360"/>
          </a:xfrm>
          <a:prstGeom prst="rect">
            <a:avLst/>
          </a:prstGeom>
          <a:solidFill>
            <a:srgbClr val="F0EFEB"/>
          </a:solidFill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4023360" cy="347472"/>
          </a:xfrm>
          <a:prstGeom prst="rect">
            <a:avLst/>
          </a:prstGeom>
          <a:solidFill>
            <a:srgbClr val="A8492C"/>
          </a:solidFill>
          <a:ln w="12700">
            <a:solidFill>
              <a:srgbClr val="A84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09160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FunSearch : bilan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gain sur le score final (déjà 99/100). Légère accélération sur quelques conjectures difficiles. Idées intéressantes : ratio degré max/min, densité adaptive, pénaliser les graphes réguliers.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conjectures réfutées sur 100 — score total 221,51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0"/>
          </a:xfrm>
          <a:prstGeom prst="line">
            <a:avLst/>
          </a:prstGeom>
          <a:noFill/>
          <a:ln w="12700">
            <a:solidFill>
              <a:srgbClr val="C9C5B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fonctionne 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passe atlas résout 72% des cas sans aucune optimisation. Les mutations ciblées + kick gèrent les cas difficiles.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Conjecture non réfutée 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griffe + domination totale. Espace très restreint, calcul coûteux — la conjecture est peut-être vraie.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FunSearch 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d'idées utiles, mais l'heuristique de base était déjà trop bonne. Plus pertinent quand on n'a aucune idée de comment guider la recherche à la main.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15384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au LLM de générer directement des familles de graphes plutôt que des fonctions de score.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C1E87-3F3A-26CC-920F-C2C17E3D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159240-FF56-0120-1C7C-1D310E082A28}"/>
              </a:ext>
            </a:extLst>
          </p:cNvPr>
          <p:cNvSpPr/>
          <p:nvPr/>
        </p:nvSpPr>
        <p:spPr>
          <a:xfrm>
            <a:off x="0" y="-34290"/>
            <a:ext cx="9144000" cy="5212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96A046-F833-00CB-212D-E9F0C09B7DD2}"/>
              </a:ext>
            </a:extLst>
          </p:cNvPr>
          <p:cNvSpPr/>
          <p:nvPr/>
        </p:nvSpPr>
        <p:spPr>
          <a:xfrm>
            <a:off x="3193366" y="2215134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Merci 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19342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Affichage à l'écran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GraphBench Challenge — Oral</dc:title>
  <dc:subject>PptxGenJS Presentation</dc:subject>
  <dc:creator>PptxGenJS</dc:creator>
  <cp:lastModifiedBy>Martim Moreira Alves</cp:lastModifiedBy>
  <cp:revision>11</cp:revision>
  <dcterms:created xsi:type="dcterms:W3CDTF">2026-05-19T22:43:30Z</dcterms:created>
  <dcterms:modified xsi:type="dcterms:W3CDTF">2026-05-20T08:35:33Z</dcterms:modified>
</cp:coreProperties>
</file>